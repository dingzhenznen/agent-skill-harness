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91695" cy="9144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AI Coding SDD 工程蓝图 v1.2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6E4F0"/>
                </a:solidFill>
                <a:latin typeface="微软雅黑"/>
              </a:defRPr>
            </a:pPr>
            <a:r>
              <a:t>多 Agent · Skills · SOP · Harness Engineering · MCP 工具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v1.2  |  2026-04-08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2468880" cy="1371600"/>
          </a:xfrm>
          <a:prstGeom prst="roundRect">
            <a:avLst/>
          </a:prstGeom>
          <a:solidFill>
            <a:srgbClr val="D6E4F0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7091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F5496"/>
                </a:solidFill>
                <a:latin typeface="微软雅黑"/>
              </a:defRPr>
            </a:pPr>
            <a:r>
              <a:t>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1206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33333"/>
                </a:solidFill>
                <a:latin typeface="微软雅黑"/>
              </a:defRPr>
            </a:pPr>
            <a:r>
              <a:t>12 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5778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6 已完成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4572000"/>
            <a:ext cx="2468880" cy="1371600"/>
          </a:xfrm>
          <a:prstGeom prst="roundRect">
            <a:avLst/>
          </a:prstGeom>
          <a:solidFill>
            <a:srgbClr val="D6E4F0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47091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F5496"/>
                </a:solidFill>
                <a:latin typeface="微软雅黑"/>
              </a:defRPr>
            </a:pPr>
            <a:r>
              <a:t>Skill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51206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33333"/>
                </a:solidFill>
                <a:latin typeface="微软雅黑"/>
              </a:defRPr>
            </a:pPr>
            <a:r>
              <a:t>17 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55778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9 已完成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572000"/>
            <a:ext cx="2468880" cy="1371600"/>
          </a:xfrm>
          <a:prstGeom prst="roundRect">
            <a:avLst/>
          </a:prstGeom>
          <a:solidFill>
            <a:srgbClr val="D6E4F0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7091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F5496"/>
                </a:solidFill>
                <a:latin typeface="微软雅黑"/>
              </a:defRPr>
            </a:pPr>
            <a:r>
              <a:t>MCP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1206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33333"/>
                </a:solidFill>
                <a:latin typeface="微软雅黑"/>
              </a:defRPr>
            </a:pPr>
            <a:r>
              <a:t>10 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5778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1 内置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4572000"/>
            <a:ext cx="2468880" cy="1371600"/>
          </a:xfrm>
          <a:prstGeom prst="roundRect">
            <a:avLst/>
          </a:prstGeom>
          <a:solidFill>
            <a:srgbClr val="D6E4F0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47091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F5496"/>
                </a:solidFill>
                <a:latin typeface="微软雅黑"/>
              </a:defRPr>
            </a:pPr>
            <a:r>
              <a:t>总体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51206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33333"/>
                </a:solidFill>
                <a:latin typeface="微软雅黑"/>
              </a:defRPr>
            </a:pPr>
            <a:r>
              <a:t> 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55778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~50%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一、系统总览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280160"/>
            <a:ext cx="2194560" cy="82296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需求接入层</a:t>
            </a:r>
          </a:p>
          <a:p>
            <a:pPr algn="ctr">
              <a:defRPr sz="900">
                <a:solidFill>
                  <a:srgbClr val="FFFFFF"/>
                </a:solidFill>
                <a:latin typeface="微软雅黑"/>
              </a:defRPr>
            </a:pPr>
            <a:r>
              <a:t>/req-intake</a:t>
            </a:r>
            <a:br/>
            <a:r>
              <a:t>/req-generator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280160"/>
            <a:ext cx="2194560" cy="82296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设计开发层</a:t>
            </a:r>
          </a:p>
          <a:p>
            <a:pPr algn="ctr">
              <a:defRPr sz="900">
                <a:solidFill>
                  <a:srgbClr val="FFFFFF"/>
                </a:solidFill>
                <a:latin typeface="微软雅黑"/>
              </a:defRPr>
            </a:pPr>
            <a:r>
              <a:t>/fe-tech-design</a:t>
            </a:r>
            <a:br/>
            <a:r>
              <a:t>/fe-implementation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0" y="1280160"/>
            <a:ext cx="2194560" cy="82296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质量保障层</a:t>
            </a:r>
          </a:p>
          <a:p>
            <a:pPr algn="ctr">
              <a:defRPr sz="900">
                <a:solidFill>
                  <a:srgbClr val="FFFFFF"/>
                </a:solidFill>
                <a:latin typeface="微软雅黑"/>
              </a:defRPr>
            </a:pPr>
            <a:r>
              <a:t>/eval-expert</a:t>
            </a:r>
            <a:br/>
            <a:r>
              <a:t>/rule-mining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280160"/>
            <a:ext cx="2194560" cy="82296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MCP 工具层</a:t>
            </a:r>
          </a:p>
          <a:p>
            <a:pPr algn="ctr">
              <a:defRPr sz="900">
                <a:solidFill>
                  <a:srgbClr val="FFFFFF"/>
                </a:solidFill>
                <a:latin typeface="微软雅黑"/>
              </a:defRPr>
            </a:pPr>
            <a:r>
              <a:t>❌ 10 工具待配置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377440"/>
            <a:ext cx="11247120" cy="1645920"/>
          </a:xfrm>
          <a:prstGeom prst="roundRect">
            <a:avLst/>
          </a:prstGeom>
          <a:solidFill>
            <a:srgbClr val="D6E4F0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423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F5496"/>
                </a:solidFill>
                <a:latin typeface="微软雅黑"/>
              </a:defRPr>
            </a:pPr>
            <a:r>
              <a:t>Agent 协作层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3464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8761D"/>
                </a:solidFill>
                <a:latin typeface="微软雅黑"/>
              </a:defRPr>
            </a:pPr>
            <a:r>
              <a:t>✅ 需求解析师  前端工程师  评估专家  规则挖掘  文件管理  需求梳理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0896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F8F00"/>
                </a:solidFill>
                <a:latin typeface="微软雅黑"/>
              </a:defRPr>
            </a:pPr>
            <a:r>
              <a:t>⚠️ 后端工程师（架构+开发合并，内容单薄）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38328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0000"/>
                </a:solidFill>
                <a:latin typeface="微软雅黑"/>
              </a:defRPr>
            </a:pPr>
            <a:r>
              <a:t>❌ 系统架构师  设计师(UI)  测试工程师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206240"/>
            <a:ext cx="11247120" cy="219456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251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F5496"/>
                </a:solidFill>
                <a:latin typeface="微软雅黑"/>
              </a:defRPr>
            </a:pPr>
            <a:r>
              <a:t>基础设施 + 工具层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66344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微软雅黑"/>
              </a:defRPr>
            </a:pPr>
            <a:r>
              <a:t>规则与上下文：L0/L1/L2 规则库</a:t>
            </a:r>
            <a:br/>
            <a:r>
              <a:t>ai-coding-errors.md</a:t>
            </a:r>
            <a:br/>
            <a:r>
              <a:t>SOP 模板：01_需求 | 02_设计 | 03_开发 | 04_评估</a:t>
            </a:r>
            <a:br/>
            <a:r>
              <a:t>Agent 记忆系统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66344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微软雅黑"/>
              </a:defRPr>
            </a:pPr>
            <a:r>
              <a:t>MCP 工具：</a:t>
            </a:r>
            <a:br/>
            <a:r>
              <a:t>✅ Filesystem（内置）</a:t>
            </a:r>
            <a:br/>
            <a:r>
              <a:t>❌ GitHub / Browser / Database</a:t>
            </a:r>
            <a:br/>
            <a:r>
              <a:t>❌ API / Git / Playwright / Search</a:t>
            </a:r>
            <a:br/>
            <a:r>
              <a:t>❌ Code Analysis / Fetch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二、Agent 状态矩阵（12 个）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F5496"/>
                </a:solidFill>
                <a:latin typeface="微软雅黑"/>
              </a:defRPr>
            </a:pPr>
            <a:r>
              <a:t>6 已完成 + 1 需完善 + 3 缺失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463040"/>
          <a:ext cx="10241280" cy="3319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286000"/>
                <a:gridCol w="914400"/>
                <a:gridCol w="5760720"/>
              </a:tblGrid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Agent</a:t>
                      </a:r>
                      <a:endParaRPr sz="10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文件</a:t>
                      </a:r>
                      <a:endParaRPr sz="10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状态</a:t>
                      </a:r>
                      <a:endParaRPr sz="10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说明</a:t>
                      </a:r>
                      <a:endParaRPr sz="10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需求解析师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requirement-analyst.md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✅ 完整</a:t>
                      </a:r>
                      <a:endParaRPr sz="900">
                        <a:latin typeface="微软雅黑"/>
                      </a:endParaRP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R0/R1/R2 判定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前端开发工程师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frontend-developer.md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✅ 完整</a:t>
                      </a:r>
                      <a:endParaRPr sz="900">
                        <a:latin typeface="微软雅黑"/>
                      </a:endParaRP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三阶段端到端交付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评估专家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evaluation-expert.md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✅ 完整</a:t>
                      </a:r>
                      <a:endParaRPr sz="900">
                        <a:latin typeface="微软雅黑"/>
                      </a:endParaRP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6 Harness 对抗测试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规则挖掘专家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rule-miner.md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✅ 完整</a:t>
                      </a:r>
                      <a:endParaRPr sz="900">
                        <a:latin typeface="微软雅黑"/>
                      </a:endParaRP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L0/L1/L2 规则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文件状态管理员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file-state-manager.md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✅ 完整</a:t>
                      </a:r>
                      <a:endParaRPr sz="900">
                        <a:latin typeface="微软雅黑"/>
                      </a:endParaRP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文档状态机管理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系统需求梳理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system-requirements-organizer.md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✅ 完整</a:t>
                      </a:r>
                      <a:endParaRPr sz="900">
                        <a:latin typeface="微软雅黑"/>
                      </a:endParaRP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功能目录+AutoMemo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后端工程师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backend-architect.md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⚠️ 骨架</a:t>
                      </a:r>
                      <a:endParaRPr sz="900">
                        <a:latin typeface="微软雅黑"/>
                      </a:endParaRPr>
                    </a:p>
                  </a:txBody>
                  <a:tcPr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架构+开发合并，仅78行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测试工程师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test-engineer.md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❌ 不存在</a:t>
                      </a:r>
                      <a:endParaRPr sz="900">
                        <a:latin typeface="微软雅黑"/>
                      </a:endParaRPr>
                    </a:p>
                  </a:txBody>
                  <a:tcPr anchor="ctr"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单元/集成/E2E 测试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系统架构师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architect.md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❌ 不存在</a:t>
                      </a:r>
                      <a:endParaRPr sz="900">
                        <a:latin typeface="微软雅黑"/>
                      </a:endParaRPr>
                    </a:p>
                  </a:txBody>
                  <a:tcPr anchor="ctr"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系统架构、技术选型、数据流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设计师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designer.md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❌ 不存在</a:t>
                      </a:r>
                      <a:endParaRPr sz="900">
                        <a:latin typeface="微软雅黑"/>
                      </a:endParaRPr>
                    </a:p>
                  </a:txBody>
                  <a:tcPr anchor="ctr"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UI/视觉 — 界面布局、色彩、切图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三、Skill 状态矩阵（17 个）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761D"/>
                </a:solidFill>
                <a:latin typeface="微软雅黑"/>
              </a:defRPr>
            </a:pPr>
            <a:r>
              <a:t>已完成（9）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463040"/>
          <a:ext cx="60350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48640"/>
                <a:gridCol w="3200400"/>
              </a:tblGrid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Skill</a:t>
                      </a:r>
                      <a:endParaRPr sz="10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状态</a:t>
                      </a:r>
                      <a:endParaRPr sz="10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说明</a:t>
                      </a:r>
                      <a:endParaRPr sz="10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/requirement-intake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✅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PRD→R0/R1/R2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/frontend-tech-design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✅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R2 前端技术设计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/frontend-task-breakdown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✅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设计→任务拆解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/frontend-implementation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✅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任务→编码+单测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/rule-mining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✅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代码变更→规则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/evaluation-expert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✅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6 Harness 对抗测试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/requirement-generator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✅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生成 .docx 文档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/project-survey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✅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项目功能目录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/requirements-consolidation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✅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AutoMemo 整理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C0000"/>
                </a:solidFill>
                <a:latin typeface="微软雅黑"/>
              </a:defRPr>
            </a:pPr>
            <a:r>
              <a:t>未完成（8）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463040"/>
          <a:ext cx="5394960" cy="2715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57200"/>
                <a:gridCol w="2926080"/>
              </a:tblGrid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Skill</a:t>
                      </a:r>
                      <a:endParaRPr sz="10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状态</a:t>
                      </a:r>
                      <a:endParaRPr sz="10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说明</a:t>
                      </a:r>
                      <a:endParaRPr sz="10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/backend-tech-design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❌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后端技术设计（后端工程师）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/backend-implementation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❌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后端编码实施（后端工程师）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/test-automation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❌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自动化测试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/system-architecture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❌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系统架构设计（系统架构师）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/api-contract-gen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❌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API 契约生成（系统架构师）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/ui-design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❌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UI/视觉设计（设计师）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/icon-design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❌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图标与切图（设计师）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/architecture-review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❌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架构评审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四、MCP 工具状态（10 个）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MCP — 为 Claude 提供外部工具和数据的标准化接入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5496"/>
                </a:solidFill>
                <a:latin typeface="微软雅黑"/>
              </a:defRPr>
            </a:pPr>
            <a:r>
              <a:t>MCP 工具清单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828800"/>
          <a:ext cx="3931920" cy="3319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1645920"/>
                <a:gridCol w="1188720"/>
                <a:gridCol w="731520"/>
              </a:tblGrid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#</a:t>
                      </a:r>
                      <a:endParaRPr sz="10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MCP Server</a:t>
                      </a:r>
                      <a:endParaRPr sz="10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类型</a:t>
                      </a:r>
                      <a:endParaRPr sz="10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优先级</a:t>
                      </a:r>
                      <a:endParaRPr sz="10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1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GitHub MCP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代码托管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P0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2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Filesystem MCP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文件系统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✅ 内置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3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Browser/Puppeteer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浏览器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P0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4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Database MCP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数据库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P1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5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API Testing MCP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接口测试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P1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6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Git MCP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版本控制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P1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7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Playwright MCP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E2E 测试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P1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8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Fetch/HTTP MCP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HTTP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P2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9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Code Analysis MCP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代码分析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P2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10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Search MCP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代码搜索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P2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5496"/>
                </a:solidFill>
                <a:latin typeface="微软雅黑"/>
              </a:defRPr>
            </a:pPr>
            <a:r>
              <a:t>与工作流集成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17920" y="1828800"/>
          <a:ext cx="5029200" cy="2112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2286000"/>
              </a:tblGrid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阶段</a:t>
                      </a:r>
                      <a:endParaRPr sz="10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MCP 工具</a:t>
                      </a:r>
                      <a:endParaRPr sz="10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效果</a:t>
                      </a:r>
                      <a:endParaRPr sz="10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需求接入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GitHub MCP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读取需求文档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UI 设计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Browser MCP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截图对比 UI 还原度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架构设计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Git MCP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分析代码变更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开发阶段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Git MCP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diff 分析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测试阶段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Browser + Playwright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E2E + 截图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交付阶段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GitHub MCP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创建 PR + 评论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五、SOP · 规则库 · Harness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F5496"/>
                </a:solidFill>
                <a:latin typeface="微软雅黑"/>
              </a:defRPr>
            </a:pPr>
            <a:r>
              <a:t>SOP 模板（5/13）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" y="1463040"/>
          <a:ext cx="3657600" cy="2715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286000"/>
                <a:gridCol w="457200"/>
              </a:tblGrid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阶段</a:t>
                      </a:r>
                      <a:endParaRPr sz="10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文件</a:t>
                      </a:r>
                      <a:endParaRPr sz="10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状态</a:t>
                      </a:r>
                      <a:endParaRPr sz="10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01_需求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PRD需求确认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✅</a:t>
                      </a:r>
                      <a:endParaRPr sz="900">
                        <a:latin typeface="微软雅黑"/>
                      </a:endParaRP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02_设计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前端设计方案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✅</a:t>
                      </a:r>
                      <a:endParaRPr sz="900">
                        <a:latin typeface="微软雅黑"/>
                      </a:endParaRP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03_开发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前端任务/执行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✅</a:t>
                      </a:r>
                      <a:endParaRPr sz="900">
                        <a:latin typeface="微软雅黑"/>
                      </a:endParaRP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04_评估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AI错误记录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✅</a:t>
                      </a:r>
                      <a:endParaRPr sz="900">
                        <a:latin typeface="微软雅黑"/>
                      </a:endParaRP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05_后端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后端技术方案/API契约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❌</a:t>
                      </a:r>
                      <a:endParaRPr sz="900">
                        <a:latin typeface="微软雅黑"/>
                      </a:endParaRPr>
                    </a:p>
                  </a:txBody>
                  <a:tcPr anchor="ctr">
                    <a:solidFill>
                      <a:srgbClr val="FCE4E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06_测试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测试用例/报告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❌</a:t>
                      </a:r>
                      <a:endParaRPr sz="900">
                        <a:latin typeface="微软雅黑"/>
                      </a:endParaRPr>
                    </a:p>
                  </a:txBody>
                  <a:tcPr anchor="ctr">
                    <a:solidFill>
                      <a:srgbClr val="FCE4E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07_架构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系统架构/API契约设计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❌</a:t>
                      </a:r>
                      <a:endParaRPr sz="900">
                        <a:latin typeface="微软雅黑"/>
                      </a:endParaRPr>
                    </a:p>
                  </a:txBody>
                  <a:tcPr anchor="ctr">
                    <a:solidFill>
                      <a:srgbClr val="FCE4E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08_UI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UI视觉设计/组件规范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❌</a:t>
                      </a:r>
                      <a:endParaRPr sz="900">
                        <a:latin typeface="微软雅黑"/>
                      </a:endParaRPr>
                    </a:p>
                  </a:txBody>
                  <a:tcPr anchor="ctr">
                    <a:solidFill>
                      <a:srgbClr val="FCE4E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761D"/>
                </a:solidFill>
                <a:latin typeface="微软雅黑"/>
              </a:defRPr>
            </a:pPr>
            <a:r>
              <a:t>规则库（3/3）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31920" y="1463040"/>
          <a:ext cx="2011680" cy="1207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457200"/>
                <a:gridCol w="457200"/>
              </a:tblGrid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层级</a:t>
                      </a:r>
                      <a:endParaRPr sz="10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文件</a:t>
                      </a:r>
                      <a:endParaRPr sz="10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状态</a:t>
                      </a:r>
                      <a:endParaRPr sz="10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L0 公共规则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4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✅</a:t>
                      </a:r>
                      <a:endParaRPr sz="900">
                        <a:latin typeface="微软雅黑"/>
                      </a:endParaRP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L1 项目规则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5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✅</a:t>
                      </a:r>
                      <a:endParaRPr sz="900">
                        <a:latin typeface="微软雅黑"/>
                      </a:endParaRP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L2 文件规则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4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✅</a:t>
                      </a:r>
                      <a:endParaRPr sz="900">
                        <a:latin typeface="微软雅黑"/>
                      </a:endParaRP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F5496"/>
                </a:solidFill>
                <a:latin typeface="微软雅黑"/>
              </a:defRPr>
            </a:pPr>
            <a:r>
              <a:t>Harness（6/11）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17920" y="1463040"/>
          <a:ext cx="4114800" cy="2112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914400"/>
              </a:tblGrid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Harness</a:t>
                      </a:r>
                      <a:endParaRPr sz="10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状态</a:t>
                      </a:r>
                      <a:endParaRPr sz="10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H1-H6: 需求/设计/代码/功能/边界/回归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✅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H7: 后端契约验证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❌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H8: 自动化测试执行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❌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H9: 系统架构验证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❌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H10: MCP 工具调用验证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❌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H11: UI 视觉还原验证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❌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六、工作流全景图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097280"/>
            <a:ext cx="5669280" cy="530352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761D"/>
                </a:solidFill>
                <a:latin typeface="微软雅黑"/>
              </a:defRPr>
            </a:pPr>
            <a:r>
              <a:t>✅ 已完成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Phase 0: 需求准备</a:t>
            </a:r>
            <a:br/>
            <a:r>
              <a:t>  PRD -&gt; /requirement-intake -&gt; R0/R1/R2</a:t>
            </a:r>
            <a:br/>
            <a:r>
              <a:t>  R2 -&gt; 需求确认文档 -&gt; /eval-expert -&gt; PASS</a:t>
            </a:r>
            <a:br/>
            <a:br/>
            <a:r>
              <a:t>Phase 1: 前端设计与开发</a:t>
            </a:r>
            <a:br/>
            <a:r>
              <a:t>  /fe-tech-design -&gt; 设计文档 -&gt; PASS</a:t>
            </a:r>
            <a:br/>
            <a:r>
              <a:t>  /fe-task-breakdown -&gt; 任务拆解 -&gt; PASS</a:t>
            </a:r>
            <a:br/>
            <a:r>
              <a:t>  /fe-implementation -&gt; 代码+单测 -&gt; PASS</a:t>
            </a:r>
            <a:br/>
            <a:r>
              <a:t>  /rule-mining -&gt; 规则落盘</a:t>
            </a:r>
            <a:br/>
            <a:br/>
            <a:r>
              <a:t>Phase 6: 持续治理</a:t>
            </a:r>
            <a:br/>
            <a:r>
              <a:t>  /project-survey -&gt; 功能目录</a:t>
            </a:r>
            <a:br/>
            <a:r>
              <a:t>  /consolidation -&gt; AutoMemo</a:t>
            </a:r>
            <a:br/>
            <a:r>
              <a:t>  /file-state-manager -&gt; 状态流转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5669280" cy="5303520"/>
          </a:xfrm>
          <a:prstGeom prst="roundRect">
            <a:avLst/>
          </a:prstGeom>
          <a:solidFill>
            <a:srgbClr val="FCE4EC"/>
          </a:solidFill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C0000"/>
                </a:solidFill>
                <a:latin typeface="微软雅黑"/>
              </a:defRPr>
            </a:pPr>
            <a:r>
              <a:t>❌ 未完成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002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Phase 2: 系统架构设计 ❌</a:t>
            </a:r>
            <a:br/>
            <a:r>
              <a:t>  系统架构师 -&gt; /system-architecture</a:t>
            </a:r>
            <a:br/>
            <a:r>
              <a:t>  -&gt; 系统架构设计、API 契约文档</a:t>
            </a:r>
            <a:br/>
            <a:br/>
            <a:r>
              <a:t>Phase 3: UI 视觉设计 ❌</a:t>
            </a:r>
            <a:br/>
            <a:r>
              <a:t>  设计师 -&gt; /ui-design</a:t>
            </a:r>
            <a:br/>
            <a:r>
              <a:t>  -&gt; 界面布局、色彩规范、图标切图</a:t>
            </a:r>
            <a:br/>
            <a:br/>
            <a:r>
              <a:t>Phase 4: 后端开发 ❌</a:t>
            </a:r>
            <a:br/>
            <a:r>
              <a:t>  后端工程师 -&gt; /backend-tech-design</a:t>
            </a:r>
            <a:br/>
            <a:r>
              <a:t>  -&gt; /backend-implementation -&gt; 后端代码</a:t>
            </a:r>
            <a:br/>
            <a:br/>
            <a:r>
              <a:t>Phase 5: 测试工程 ❌</a:t>
            </a:r>
            <a:br/>
            <a:r>
              <a:t>  /test-automation -&gt; 单元/集成/E2E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七、待完成工作清单（24 项）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C0000"/>
                </a:solidFill>
                <a:latin typeface="微软雅黑"/>
              </a:defRPr>
            </a:pPr>
            <a:r>
              <a:t>P0 — 核心缺失（10 项）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463040"/>
          <a:ext cx="5652770" cy="33191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2286000"/>
                <a:gridCol w="2181860"/>
                <a:gridCol w="819150"/>
              </a:tblGrid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#</a:t>
                      </a:r>
                      <a:endParaRPr sz="10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任务</a:t>
                      </a:r>
                      <a:endParaRPr sz="10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产出物</a:t>
                      </a:r>
                      <a:endParaRPr sz="10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复杂度</a:t>
                      </a:r>
                      <a:endParaRPr sz="10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1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创建测试工程师 Agent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test-engineer.md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中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2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创建系统架构师 Agent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architect.md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高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3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创建设计师 Agent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designer.md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中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4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创建 /test-automation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test-automation/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中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5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创建 /system-architecture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system-architecture/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中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6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创建 /ui-design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ui-design/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中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7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完善后端工程师 Agent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补充 backend-architect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低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8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创建 /backend-tech-design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backend-tech-design/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中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9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创建 /backend-implementation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backend-implementation/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中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10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配置 MCP（GitHub+FS+Browser）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~/.claude.json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低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F5496"/>
                </a:solidFill>
                <a:latin typeface="微软雅黑"/>
              </a:defRPr>
            </a:pPr>
            <a:r>
              <a:t>P1/P2 — 能力增强+工程化（14 项）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1463040"/>
          <a:ext cx="5760720" cy="2780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005"/>
                <a:gridCol w="1829435"/>
                <a:gridCol w="2743200"/>
                <a:gridCol w="640080"/>
              </a:tblGrid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#</a:t>
                      </a:r>
                      <a:endParaRPr sz="10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任务</a:t>
                      </a:r>
                      <a:endParaRPr sz="10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产出物</a:t>
                      </a:r>
                      <a:endParaRPr sz="10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复杂度</a:t>
                      </a:r>
                      <a:endParaRPr sz="10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11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创建 /api-contract-gen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api-contract-gen/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中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12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创建 /architecture-review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architecture-review/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低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13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创建 /icon-design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icon-design/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低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14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SOP 模板（后端/测试）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sop/templates/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低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15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SOP 模板（架构/UI）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sop/templates/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低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16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MCP 扩展（DB+API+Git+Playwright）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~/.claude.json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中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17-21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补充 Harness H7-H11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eval-expert 扩展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低-中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22-24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SOP 更新/命名规范/Skill 对齐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文档更新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低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八、目标架构（完善后）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097280"/>
            <a:ext cx="1188720" cy="64008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需求层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737359"/>
            <a:ext cx="1188720" cy="13716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54480" y="1097280"/>
            <a:ext cx="10149840" cy="64008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需求解析师, 需求生成器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847088"/>
            <a:ext cx="1188720" cy="640080"/>
          </a:xfrm>
          <a:prstGeom prst="round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设计层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2487167"/>
            <a:ext cx="1188720" cy="137160"/>
          </a:xfrm>
          <a:prstGeom prst="round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54480" y="1847088"/>
            <a:ext cx="10149840" cy="64008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系统架构师, 设计师, 前端工程师, 后端工程师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2596896"/>
            <a:ext cx="1188720" cy="640080"/>
          </a:xfrm>
          <a:prstGeom prst="roundRect">
            <a:avLst/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开发层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3236975"/>
            <a:ext cx="1188720" cy="137160"/>
          </a:xfrm>
          <a:prstGeom prst="roundRect">
            <a:avLst/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54480" y="2596896"/>
            <a:ext cx="10149840" cy="64008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前端工程师, 后端工程师, 测试工程师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3346704"/>
            <a:ext cx="1188720" cy="640080"/>
          </a:xfrm>
          <a:prstGeom prst="round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质量层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3986783"/>
            <a:ext cx="1188720" cy="137160"/>
          </a:xfrm>
          <a:prstGeom prst="round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54480" y="3346704"/>
            <a:ext cx="10149840" cy="64008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评估专家 (11 Harness), 规则挖掘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4096512"/>
            <a:ext cx="1188720" cy="640080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治理层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4736591"/>
            <a:ext cx="1188720" cy="137160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54480" y="4096512"/>
            <a:ext cx="10149840" cy="64008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文件状态管理, 系统需求梳理, 需求定期整理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4846320"/>
            <a:ext cx="1188720" cy="64008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333333"/>
                </a:solidFill>
                <a:latin typeface="微软雅黑"/>
              </a:defRPr>
            </a:pPr>
            <a:r>
              <a:t>基础设施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5486399"/>
            <a:ext cx="1188720" cy="137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333333"/>
                </a:solidFill>
                <a:latin typeface="微软雅黑"/>
              </a:defRPr>
            </a:pPr>
            <a:r>
              <a:t>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554480" y="4846320"/>
            <a:ext cx="10149840" cy="64008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规则库, 错误记录, SOP, 记忆系统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5596128"/>
            <a:ext cx="1188720" cy="640080"/>
          </a:xfrm>
          <a:prstGeom prst="roundRect">
            <a:avLst/>
          </a:prstGeom>
          <a:solidFill>
            <a:srgbClr val="FD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MCP 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6236207"/>
            <a:ext cx="1188720" cy="137160"/>
          </a:xfrm>
          <a:prstGeom prst="roundRect">
            <a:avLst/>
          </a:prstGeom>
          <a:solidFill>
            <a:srgbClr val="FD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554480" y="5596128"/>
            <a:ext cx="10149840" cy="64008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Filesystem(内置), 其余9个待配置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九、完成度统计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0" y="1371600"/>
          <a:ext cx="5120640" cy="2715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822960"/>
                <a:gridCol w="731520"/>
                <a:gridCol w="822960"/>
                <a:gridCol w="914400"/>
              </a:tblGrid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维度</a:t>
                      </a:r>
                      <a:endParaRPr sz="10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已完成</a:t>
                      </a:r>
                      <a:endParaRPr sz="10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进行中</a:t>
                      </a:r>
                      <a:endParaRPr sz="10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未开始</a:t>
                      </a:r>
                      <a:endParaRPr sz="10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完成度</a:t>
                      </a:r>
                      <a:endParaRPr sz="10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Agent（12 个）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6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1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3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58%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Skill（17 个）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9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0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8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53%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MCP 工具（10 个）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1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0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9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10%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SOP 模板（13 个）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5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0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8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38%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Harness（11 个）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6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0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5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55%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规则库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3/3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0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0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100%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治理工具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3/3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0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0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100%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总体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微软雅黑"/>
                        </a:rPr>
                        <a:t>~50%</a:t>
                      </a:r>
                      <a:endParaRPr sz="900">
                        <a:latin typeface="微软雅黑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2286000" y="4572000"/>
            <a:ext cx="5943600" cy="1097280"/>
          </a:xfrm>
          <a:prstGeom prst="roundRect">
            <a:avLst/>
          </a:prstGeom>
          <a:solidFill>
            <a:srgbClr val="D6E4F0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68880" y="4663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F5496"/>
                </a:solidFill>
                <a:latin typeface="微软雅黑"/>
              </a:defRPr>
            </a:pPr>
            <a:r>
              <a:t>总体完成度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5120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F5496"/>
                </a:solidFill>
                <a:latin typeface="微软雅黑"/>
              </a:defRPr>
            </a:pPr>
            <a:r>
              <a:t>~ 50%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5760720"/>
            <a:ext cx="4114800" cy="22860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0400" y="5760720"/>
            <a:ext cx="2057400" cy="22860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371600"/>
            <a:ext cx="1828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关键发现</a:t>
            </a:r>
            <a:br/>
            <a:br/>
            <a:r>
              <a:t>✅ 前端链路完整闭环</a:t>
            </a:r>
            <a:br/>
            <a:br/>
            <a:r>
              <a:t>⚠️ 后端工程师需补充</a:t>
            </a:r>
            <a:br/>
            <a:br/>
            <a:r>
              <a:t>❌ 系统架构师缺失</a:t>
            </a:r>
            <a:br/>
            <a:br/>
            <a:r>
              <a:t>❌ 设计师(UI)缺失</a:t>
            </a:r>
            <a:br/>
            <a:br/>
            <a:r>
              <a:t>❌ MCP 工具未配置</a:t>
            </a:r>
            <a:br/>
            <a:br/>
            <a:r>
              <a:t>❌ 测试体系空白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7315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微软雅黑"/>
              </a:defRPr>
            </a:pPr>
            <a:r>
              <a:t>AI Coding SDD 工程蓝图 v1.2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D700"/>
                </a:solidFill>
                <a:latin typeface="微软雅黑"/>
              </a:defRPr>
            </a:pPr>
            <a:r>
              <a:t>架构师=系统架构 | 后端=架构+开发合并 | 设计师=UI/视觉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D6E4F0"/>
                </a:solidFill>
                <a:latin typeface="微软雅黑"/>
              </a:defRPr>
            </a:pPr>
            <a:r>
              <a:t>前端已闭环 | 系统设计+UI设计+MCP 待建设 | 总体 ~50%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v1.2  |  2026-04-08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4180</Words>
  <Application>WPS 表格</Application>
  <PresentationFormat>On-screen Show (4:3)</PresentationFormat>
  <Paragraphs>842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6" baseType="lpstr">
      <vt:lpstr>Arial</vt:lpstr>
      <vt:lpstr>宋体</vt:lpstr>
      <vt:lpstr>Wingdings</vt:lpstr>
      <vt:lpstr>Arial</vt:lpstr>
      <vt:lpstr>微软雅黑</vt:lpstr>
      <vt:lpstr>汉仪旗黑</vt:lpstr>
      <vt:lpstr>Calibri</vt:lpstr>
      <vt:lpstr>Helvetica Neue</vt:lpstr>
      <vt:lpstr>宋体</vt:lpstr>
      <vt:lpstr>汉仪书宋二KW</vt:lpstr>
      <vt:lpstr>微软雅黑</vt:lpstr>
      <vt:lpstr>Arial Unicode MS</vt:lpstr>
      <vt:lpstr>微软雅黑</vt:lpstr>
      <vt:lpstr>Apple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吕瑶</cp:lastModifiedBy>
  <cp:revision>2</cp:revision>
  <dcterms:created xsi:type="dcterms:W3CDTF">2026-04-08T06:15:25Z</dcterms:created>
  <dcterms:modified xsi:type="dcterms:W3CDTF">2026-04-08T06:15:25Z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2052-12.1.25205.25205</vt:lpwstr>
  </property>
  <property fmtid="{D5CDD505-2E9C-101B-9397-08002B2CF9AE}" pid="3" name="ICV">
    <vt:lpwstr>C2A7F99D56A6EA467CF2D5695F9EFA7A_42</vt:lpwstr>
  </property>
</Properties>
</file>